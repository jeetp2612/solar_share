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 (20s): 'Your roof exports power at a fixed government rate. Your neighbour buys that same energy back at retail. Both of you lose, and nobody in between captures the value. We built that market.'</a:t>
            </a:r>
          </a:p>
          <a:p>
            <a:r>
              <a:t>Introduce Data Forge: Jeet (ledger + engine), Shlok (marketplace UI), Dhruvit (data + tests + demo).</a:t>
            </a:r>
          </a:p>
          <a:p>
            <a:r>
              <a:t>Set expectations: 'Everything you see is a running app, not mockups — and I will name exactly which parts are simulated.'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60s. Walk the three cards left to right, then the WHY NOW strip. Do not read slides verbatim.</a:t>
            </a:r>
          </a:p>
          <a:p>
            <a:r>
              <a:t>Card 3 plants slide 5: 'in a minute I'll show you the actual hash chain, and I'll verify it in front of you.'</a:t>
            </a:r>
          </a:p>
          <a:p>
            <a:r>
              <a:t>Market honesty: say 'the app prices inside the ₹4–12/kWh band Indian retail solar trades in'. Never invent a TAM 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DEMO. If you can, alt-tab to the running app: sign up, ₹500 appears, sweep 5 kWh, watch ₹ go down and kWh go up in the same instant.</a:t>
            </a:r>
          </a:p>
          <a:p>
            <a:r>
              <a:t>Read one book row aloud: 'Sharma Rooftop, Andheri, 400 metres, 3.9 of 8.4 kWh left, ₹5.65, rating 4.9.' Specificity is what makes it credible.</a:t>
            </a:r>
          </a:p>
          <a:p>
            <a:r>
              <a:t>If the projector dies: this screenshot is from the same build, so the pitch survives without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Depth slide for the technical judge: 'The engine is pure and unit-tested, so what the UI quotes is exactly what the database settles — there is no second implementation to disagree with.'</a:t>
            </a:r>
          </a:p>
          <a:p>
            <a:r>
              <a:t>Human moment: 'Can I buy just 2 of Sharma's 3.9 kWh now and the rest next week?' Yes — and it becomes four verifiable blocks instead of one promise.</a:t>
            </a:r>
          </a:p>
          <a:p>
            <a:r>
              <a:t>Money question: 'Nothing settles silently. Grid fee, slippage and margin versus the mid price are on screen before you sign.'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moat slide. Most teams cannot answer 'show me the record'.</a:t>
            </a:r>
          </a:p>
          <a:p>
            <a:r>
              <a:t>Say the distinction so nobody calls it an overclaim: 'The SolarShare chain is an application ledger BUILT like a blockchain — hash-chained, verifiable, tamper-evident. Amoy is a genuine external chain we read from; we are not claiming to run consensus ourselves.'</a:t>
            </a:r>
          </a:p>
          <a:p>
            <a:r>
              <a:t>Demo if possible: open Ledger → Verify chain → 'Verified N blocks from genesis — hashes and links intact'. Then: 'edit any row by hand in Postgres and this turns red at that exact block.'</a:t>
            </a:r>
          </a:p>
          <a:p>
            <a:r>
              <a:t>If asked about Merkle trees or PoS: 'No Merkle tree, no validator set — PoA-shaped. The payload is already canonical, so anchoring the head hash on-chain is a next step, not a rewrite.'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honest and get credit for it: 'Working app, real accounts, real SQL, real hash chain — and here is exactly the part we simulated.'</a:t>
            </a:r>
          </a:p>
          <a:p>
            <a:r>
              <a:t>Then the ask: 'Give us real feeder data and one pilot housing society and we run this for real.'</a:t>
            </a:r>
          </a:p>
          <a:p>
            <a:r>
              <a:t>Q&amp;A prep — (1) Is this legal? We assume open-access / net-metering rules, which is why Comply is step 4. (2) Why not just net-metering? It prices nothing and matches nobody. (3) What if someone edits the database? verifyChain() re-hashes from raw rows and names the first broken block. (4) Why was Amoy unreachable? No egress from the sandbox — the app marks the head stale with a reason instead of faking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39535" y="-4023360"/>
            <a:ext cx="8412480" cy="8412480"/>
          </a:xfrm>
          <a:prstGeom prst="ellipse">
            <a:avLst/>
          </a:prstGeom>
          <a:solidFill>
            <a:srgbClr val="35F08A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108960" y="2834639"/>
            <a:ext cx="6949440" cy="6949440"/>
          </a:xfrm>
          <a:prstGeom prst="ellipse">
            <a:avLst/>
          </a:prstGeom>
          <a:solidFill>
            <a:srgbClr val="FFB020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5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530352"/>
            <a:ext cx="45720" cy="274320"/>
          </a:xfrm>
          <a:prstGeom prst="rect">
            <a:avLst/>
          </a:prstGeom>
          <a:solidFill>
            <a:srgbClr val="35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5486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Segoe UI"/>
              </a:rPr>
              <a:t>TEAM </a:t>
            </a:r>
            <a:r>
              <a:rPr sz="1200" b="1">
                <a:solidFill>
                  <a:srgbClr val="35F08A"/>
                </a:solidFill>
                <a:latin typeface="Segoe UI"/>
              </a:rPr>
              <a:t>DATA FORGE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07008"/>
            <a:ext cx="57424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1">
                <a:solidFill>
                  <a:srgbClr val="FFB020"/>
                </a:solidFill>
                <a:latin typeface="Segoe UI"/>
              </a:rPr>
              <a:t>SOLARSHARE  ·  P2P ENERGY EXCHANGE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57424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300" b="1">
                <a:solidFill>
                  <a:srgbClr val="EDF3FA"/>
                </a:solidFill>
                <a:latin typeface="Segoe UI"/>
              </a:rPr>
              <a:t>Trade the sun next door.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86369"/>
            <a:ext cx="57424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98AABE"/>
                </a:solidFill>
                <a:latin typeface="Segoe UI"/>
              </a:rPr>
              <a:t>Peer-to-peer rooftop solar for Indian households — priced in ₹, settled on real Postgres, and stamped into a SHA-256 hash-chained ledger you can verify in one click.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311309"/>
            <a:ext cx="1822704" cy="768096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143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421037"/>
            <a:ext cx="151180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800" b="1">
                <a:solidFill>
                  <a:srgbClr val="35F08A"/>
                </a:solidFill>
                <a:latin typeface="Segoe UI"/>
              </a:rPr>
              <a:t>₹8.50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722789"/>
            <a:ext cx="1511808" cy="323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1748C"/>
                </a:solidFill>
                <a:latin typeface="Segoe UI"/>
              </a:rPr>
              <a:t>market base price / kWh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37104" y="4311309"/>
            <a:ext cx="1822704" cy="768096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143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1696" y="4421037"/>
            <a:ext cx="151180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800" b="1">
                <a:solidFill>
                  <a:srgbClr val="35F08A"/>
                </a:solidFill>
                <a:latin typeface="Segoe UI"/>
              </a:rPr>
              <a:t>105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1696" y="4722789"/>
            <a:ext cx="1511808" cy="161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1748C"/>
                </a:solidFill>
                <a:latin typeface="Segoe UI"/>
              </a:rPr>
              <a:t>unit tests passing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96968" y="4311309"/>
            <a:ext cx="1822704" cy="768096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143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1560" y="4421037"/>
            <a:ext cx="151180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800" b="1">
                <a:solidFill>
                  <a:srgbClr val="35F08A"/>
                </a:solidFill>
                <a:latin typeface="Segoe UI"/>
              </a:rPr>
              <a:t>1 click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1560" y="4722789"/>
            <a:ext cx="1511808" cy="323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1748C"/>
                </a:solidFill>
                <a:latin typeface="Segoe UI"/>
              </a:rPr>
              <a:t>verify chain from genesis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43997"/>
            <a:ext cx="57424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Segoe UI"/>
              </a:rPr>
              <a:t>6 slides  ·  ~6 minutes  ·  live demo of the running 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1207008"/>
            <a:ext cx="4510735" cy="2681231"/>
          </a:xfrm>
          <a:prstGeom prst="roundRect">
            <a:avLst>
              <a:gd name="adj" fmla="val 4500"/>
            </a:avLst>
          </a:prstGeom>
          <a:solidFill>
            <a:srgbClr val="0C121B"/>
          </a:solidFill>
          <a:ln w="13970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68312" y="1303020"/>
            <a:ext cx="77724" cy="77724"/>
          </a:xfrm>
          <a:prstGeom prst="ellipse">
            <a:avLst/>
          </a:prstGeom>
          <a:solidFill>
            <a:srgbClr val="DC5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05472" y="1303020"/>
            <a:ext cx="77724" cy="77724"/>
          </a:xfrm>
          <a:prstGeom prst="ellipse">
            <a:avLst/>
          </a:prstGeom>
          <a:solidFill>
            <a:srgbClr val="E0A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42631" y="1303020"/>
            <a:ext cx="77724" cy="77724"/>
          </a:xfrm>
          <a:prstGeom prst="ellipse">
            <a:avLst/>
          </a:prstGeom>
          <a:solidFill>
            <a:srgbClr val="4CB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0648" y="1293876"/>
            <a:ext cx="37792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850" b="0">
                <a:solidFill>
                  <a:srgbClr val="61748C"/>
                </a:solidFill>
                <a:latin typeface="Consolas"/>
              </a:rPr>
              <a:t>solarshare · mumbai rooftop microgrid</a:t>
            </a:r>
          </a:p>
        </p:txBody>
      </p:sp>
      <p:pic>
        <p:nvPicPr>
          <p:cNvPr id="26" name="Picture 25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90472"/>
            <a:ext cx="4419295" cy="2352047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903720" y="4089407"/>
            <a:ext cx="4510735" cy="786384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143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23176" y="4208279"/>
            <a:ext cx="1156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1">
                <a:solidFill>
                  <a:srgbClr val="EDF3FA"/>
                </a:solidFill>
                <a:latin typeface="Segoe UI"/>
              </a:rPr>
              <a:t>₹500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3176" y="4482599"/>
            <a:ext cx="1156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1748C"/>
                </a:solidFill>
                <a:latin typeface="Segoe UI"/>
              </a:rPr>
              <a:t>welcome credit on sign-up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0450" y="4208279"/>
            <a:ext cx="1156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1">
                <a:solidFill>
                  <a:srgbClr val="EDF3FA"/>
                </a:solidFill>
                <a:latin typeface="Segoe UI"/>
              </a:rPr>
              <a:t>3.0 kWp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0450" y="4482599"/>
            <a:ext cx="1156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1748C"/>
                </a:solidFill>
                <a:latin typeface="Segoe UI"/>
              </a:rPr>
              <a:t>simulated rooftop per account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9282" y="4235711"/>
            <a:ext cx="9144" cy="493776"/>
          </a:xfrm>
          <a:prstGeom prst="rect">
            <a:avLst/>
          </a:prstGeom>
          <a:solidFill>
            <a:srgbClr val="20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37724" y="4208279"/>
            <a:ext cx="1156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1">
                <a:solidFill>
                  <a:srgbClr val="EDF3FA"/>
                </a:solidFill>
                <a:latin typeface="Segoe UI"/>
              </a:rPr>
              <a:t>₹5.5–13.5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37724" y="4482599"/>
            <a:ext cx="1156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1748C"/>
                </a:solidFill>
                <a:latin typeface="Segoe UI"/>
              </a:rPr>
              <a:t>live band, Feeder 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36556" y="4235711"/>
            <a:ext cx="9144" cy="493776"/>
          </a:xfrm>
          <a:prstGeom prst="rect">
            <a:avLst/>
          </a:prstGeom>
          <a:solidFill>
            <a:srgbClr val="20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7240" y="5559552"/>
            <a:ext cx="10637215" cy="731520"/>
          </a:xfrm>
          <a:prstGeom prst="roundRect">
            <a:avLst>
              <a:gd name="adj" fmla="val 9000"/>
            </a:avLst>
          </a:prstGeom>
          <a:solidFill>
            <a:srgbClr val="0C121B"/>
          </a:solidFill>
          <a:ln w="1143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3" y="58247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1">
                <a:solidFill>
                  <a:srgbClr val="FFB020"/>
                </a:solidFill>
                <a:latin typeface="Segoe UI"/>
              </a:rPr>
              <a:t>BUILT BY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58568" y="569671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1">
                <a:solidFill>
                  <a:srgbClr val="EDF3FA"/>
                </a:solidFill>
                <a:latin typeface="Segoe UI"/>
              </a:rPr>
              <a:t>Jeet Patel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58568" y="598017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61748C"/>
                </a:solidFill>
                <a:latin typeface="Segoe UI"/>
              </a:rPr>
              <a:t>ledger + trading engine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94376" y="5724144"/>
            <a:ext cx="9144" cy="402336"/>
          </a:xfrm>
          <a:prstGeom prst="rect">
            <a:avLst/>
          </a:prstGeom>
          <a:solidFill>
            <a:srgbClr val="20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68696" y="569671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1">
                <a:solidFill>
                  <a:srgbClr val="EDF3FA"/>
                </a:solidFill>
                <a:latin typeface="Segoe UI"/>
              </a:rPr>
              <a:t>Shlok Vaghasiya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68696" y="598017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61748C"/>
                </a:solidFill>
                <a:latin typeface="Segoe UI"/>
              </a:rPr>
              <a:t>marketplace UI + deal flow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04504" y="5724144"/>
            <a:ext cx="9144" cy="402336"/>
          </a:xfrm>
          <a:prstGeom prst="rect">
            <a:avLst/>
          </a:prstGeom>
          <a:solidFill>
            <a:srgbClr val="20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78824" y="569671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1">
                <a:solidFill>
                  <a:srgbClr val="EDF3FA"/>
                </a:solidFill>
                <a:latin typeface="Segoe UI"/>
              </a:rPr>
              <a:t>Dhruvit Vadukiya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78824" y="598017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61748C"/>
                </a:solidFill>
                <a:latin typeface="Segoe UI"/>
              </a:rPr>
              <a:t>data layer, tests, demo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4190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98AABE"/>
                </a:solidFill>
                <a:latin typeface="Segoe UI"/>
              </a:rPr>
              <a:t>Live web app — real accounts, real SQL, real hash chain.   </a:t>
            </a:r>
            <a:r>
              <a:rPr sz="1100" b="0">
                <a:solidFill>
                  <a:srgbClr val="61748C"/>
                </a:solidFill>
                <a:latin typeface="Segoe UI"/>
              </a:rPr>
              <a:t>Optional read-only bridge: Polygon Amoy testnet (chainId 80002)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85455" y="-3291840"/>
            <a:ext cx="5852160" cy="5852160"/>
          </a:xfrm>
          <a:prstGeom prst="ellipse">
            <a:avLst/>
          </a:prstGeom>
          <a:solidFill>
            <a:srgbClr val="35F08A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651760" y="3566160"/>
            <a:ext cx="5120640" cy="5120640"/>
          </a:xfrm>
          <a:prstGeom prst="ellipse">
            <a:avLst/>
          </a:prstGeom>
          <a:solidFill>
            <a:srgbClr val="FFB02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5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35F08A"/>
                </a:solidFill>
                <a:latin typeface="Segoe U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1792"/>
            <a:ext cx="10637215" cy="527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EDF3FA"/>
                </a:solidFill>
                <a:latin typeface="Segoe UI"/>
              </a:rPr>
              <a:t>Rooftop solar has no market — only a 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22364"/>
            <a:ext cx="9692640" cy="5119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>
                <a:solidFill>
                  <a:srgbClr val="98AABE"/>
                </a:solidFill>
                <a:latin typeface="Segoe UI"/>
              </a:rPr>
              <a:t>You generate 3 kW on your roof and ₹0 on your terms: surplus leaves at a fixed feed-in rate while the flat next door buys it back at retail.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5731"/>
            <a:ext cx="3399434" cy="3112352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5731"/>
            <a:ext cx="3399434" cy="457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26899"/>
            <a:ext cx="285079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1">
                <a:solidFill>
                  <a:srgbClr val="FFB020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01219"/>
            <a:ext cx="2850794" cy="64052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950" b="1">
                <a:solidFill>
                  <a:srgbClr val="EDF3FA"/>
                </a:solidFill>
                <a:latin typeface="Segoe UI"/>
              </a:rPr>
              <a:t>Locked surplus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41741"/>
            <a:ext cx="2850794" cy="14294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40" b="0">
                <a:solidFill>
                  <a:srgbClr val="98AABE"/>
                </a:solidFill>
                <a:latin typeface="Segoe UI"/>
              </a:rPr>
              <a:t>Net metering exports your daytime over-generation at a fixed feed-in tariff, settled monthly. You choose no price, no buyer, no timing — while your evening peak is billed at full retail.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554036"/>
            <a:ext cx="285079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1">
                <a:solidFill>
                  <a:srgbClr val="FFB020"/>
                </a:solidFill>
                <a:latin typeface="Segoe UI"/>
              </a:rPr>
              <a:t>Sell into a curve, not a market.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6130" y="1825731"/>
            <a:ext cx="3399434" cy="3112352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6130" y="1825731"/>
            <a:ext cx="3399434" cy="45720"/>
          </a:xfrm>
          <a:prstGeom prst="rect">
            <a:avLst/>
          </a:prstGeom>
          <a:solidFill>
            <a:srgbClr val="35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0450" y="2026899"/>
            <a:ext cx="285079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1">
                <a:solidFill>
                  <a:srgbClr val="35F08A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0450" y="2301219"/>
            <a:ext cx="2850794" cy="64052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950" b="1">
                <a:solidFill>
                  <a:srgbClr val="EDF3FA"/>
                </a:solidFill>
                <a:latin typeface="Segoe UI"/>
              </a:rPr>
              <a:t>Neighbours never meet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0450" y="2941741"/>
            <a:ext cx="2850794" cy="14294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40" b="0">
                <a:solidFill>
                  <a:srgbClr val="98AABE"/>
                </a:solidFill>
                <a:latin typeface="Segoe UI"/>
              </a:rPr>
              <a:t>A producer and a buyer on the same feeder, 400 m apart, cannot trade: no shared order book, no per-peer identity, no settlement rail, no record of who owed whom.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0450" y="4554036"/>
            <a:ext cx="285079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1">
                <a:solidFill>
                  <a:srgbClr val="35F08A"/>
                </a:solidFill>
                <a:latin typeface="Segoe UI"/>
              </a:rPr>
              <a:t>Same wire. No meeting point.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5020" y="1825731"/>
            <a:ext cx="3399434" cy="3112352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5020" y="1825731"/>
            <a:ext cx="3399434" cy="45720"/>
          </a:xfrm>
          <a:prstGeom prst="rect">
            <a:avLst/>
          </a:prstGeom>
          <a:solidFill>
            <a:srgbClr val="5F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9340" y="2026899"/>
            <a:ext cx="285079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1">
                <a:solidFill>
                  <a:srgbClr val="5FA8FF"/>
                </a:solidFill>
                <a:latin typeface="Consol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9340" y="2301219"/>
            <a:ext cx="2850794" cy="64052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950" b="1">
                <a:solidFill>
                  <a:srgbClr val="EDF3FA"/>
                </a:solidFill>
                <a:latin typeface="Segoe UI"/>
              </a:rPr>
              <a:t>'Blockchain energy' that isn't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9340" y="2941741"/>
            <a:ext cx="2850794" cy="14294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40" b="0">
                <a:solidFill>
                  <a:srgbClr val="98AABE"/>
                </a:solidFill>
                <a:latin typeface="Segoe UI"/>
              </a:rPr>
              <a:t>Most demo projects ship a mockup and a logo. Judges and utilities ask one question — where is the record? A ledger you cannot re-hash from raw rows is a slide, not a system.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9340" y="4554036"/>
            <a:ext cx="285079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1">
                <a:solidFill>
                  <a:srgbClr val="5FA8FF"/>
                </a:solidFill>
                <a:latin typeface="Segoe UI"/>
              </a:rPr>
              <a:t>Trust needs proof.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596128"/>
            <a:ext cx="10637215" cy="603504"/>
          </a:xfrm>
          <a:prstGeom prst="roundRect">
            <a:avLst>
              <a:gd name="adj" fmla="val 8000"/>
            </a:avLst>
          </a:prstGeom>
          <a:solidFill>
            <a:srgbClr val="0C121B"/>
          </a:solidFill>
          <a:ln w="1143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3" y="5824283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>
                <a:solidFill>
                  <a:srgbClr val="FFB020"/>
                </a:solidFill>
                <a:latin typeface="Segoe UI"/>
              </a:rPr>
              <a:t>WHY NOW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58568" y="5768161"/>
            <a:ext cx="68580" cy="68580"/>
          </a:xfrm>
          <a:prstGeom prst="roundRect">
            <a:avLst>
              <a:gd name="adj" fmla="val 50000"/>
            </a:avLst>
          </a:prstGeom>
          <a:solidFill>
            <a:srgbClr val="35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41448" y="5707117"/>
            <a:ext cx="2485034" cy="3815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80" b="0">
                <a:solidFill>
                  <a:srgbClr val="98AABE"/>
                </a:solidFill>
                <a:latin typeface="Segoe UI"/>
              </a:rPr>
              <a:t>Residential rooftop is the fastest-growing solar segment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10530" y="5768161"/>
            <a:ext cx="68580" cy="6858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93410" y="5707117"/>
            <a:ext cx="2485034" cy="3815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80" b="0">
                <a:solidFill>
                  <a:srgbClr val="98AABE"/>
                </a:solidFill>
                <a:latin typeface="Segoe UI"/>
              </a:rPr>
              <a:t>Retail solar P2P value trades roughly ₹4–₹12 / kWh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91074" y="5715000"/>
            <a:ext cx="9144" cy="365760"/>
          </a:xfrm>
          <a:prstGeom prst="rect">
            <a:avLst/>
          </a:prstGeom>
          <a:solidFill>
            <a:srgbClr val="20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62492" y="5768161"/>
            <a:ext cx="68580" cy="68580"/>
          </a:xfrm>
          <a:prstGeom prst="roundRect">
            <a:avLst>
              <a:gd name="adj" fmla="val 50000"/>
            </a:avLst>
          </a:prstGeom>
          <a:solidFill>
            <a:srgbClr val="5F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5372" y="5707117"/>
            <a:ext cx="2485034" cy="3815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80" b="0">
                <a:solidFill>
                  <a:srgbClr val="98AABE"/>
                </a:solidFill>
                <a:latin typeface="Segoe UI"/>
              </a:rPr>
              <a:t>Every kWh traded peer-to-peer keeps that margin inside the feeder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43036" y="5715000"/>
            <a:ext cx="9144" cy="365760"/>
          </a:xfrm>
          <a:prstGeom prst="rect">
            <a:avLst/>
          </a:prstGeom>
          <a:solidFill>
            <a:srgbClr val="20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6400800"/>
            <a:ext cx="10637215" cy="9144"/>
          </a:xfrm>
          <a:prstGeom prst="rect">
            <a:avLst/>
          </a:prstGeom>
          <a:solidFill>
            <a:srgbClr val="20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1">
                <a:solidFill>
                  <a:srgbClr val="35F08A"/>
                </a:solidFill>
                <a:latin typeface="Segoe UI"/>
              </a:rPr>
              <a:t>DATA FORGE</a:t>
            </a:r>
            <a:r>
              <a:rPr sz="900" b="0">
                <a:solidFill>
                  <a:srgbClr val="61748C"/>
                </a:solidFill>
                <a:latin typeface="Segoe UI"/>
              </a:rPr>
              <a:t>   ·   SolarShare — peer-to-peer solar exchange, priced in 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25735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>
                <a:solidFill>
                  <a:srgbClr val="61748C"/>
                </a:solidFill>
                <a:latin typeface="Consolas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85455" y="-3291840"/>
            <a:ext cx="5852160" cy="5852160"/>
          </a:xfrm>
          <a:prstGeom prst="ellipse">
            <a:avLst/>
          </a:prstGeom>
          <a:solidFill>
            <a:srgbClr val="35F08A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651760" y="3566160"/>
            <a:ext cx="5120640" cy="5120640"/>
          </a:xfrm>
          <a:prstGeom prst="ellipse">
            <a:avLst/>
          </a:prstGeom>
          <a:solidFill>
            <a:srgbClr val="FFB02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5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35F08A"/>
                </a:solidFill>
                <a:latin typeface="Segoe UI"/>
              </a:rPr>
              <a:t>THE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1792"/>
            <a:ext cx="9692640" cy="5109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1">
                <a:solidFill>
                  <a:srgbClr val="EDF3FA"/>
                </a:solidFill>
                <a:latin typeface="Segoe UI"/>
              </a:rPr>
              <a:t>One wallet. Two directions. Zero roles.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05941"/>
            <a:ext cx="9692640" cy="5119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>
                <a:solidFill>
                  <a:srgbClr val="98AABE"/>
                </a:solidFill>
                <a:latin typeface="Segoe UI"/>
              </a:rPr>
              <a:t>Every account can Buy kWh and Sell kWh — ₹ balances, a real order book, a live route preview. This is the running app, not a mockup.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07" y="1845884"/>
            <a:ext cx="6594753" cy="4079427"/>
          </a:xfrm>
          <a:prstGeom prst="roundRect">
            <a:avLst>
              <a:gd name="adj" fmla="val 4500"/>
            </a:avLst>
          </a:prstGeom>
          <a:solidFill>
            <a:srgbClr val="0C121B"/>
          </a:solidFill>
          <a:ln w="13970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2599" y="1941896"/>
            <a:ext cx="77724" cy="77724"/>
          </a:xfrm>
          <a:prstGeom prst="ellipse">
            <a:avLst/>
          </a:prstGeom>
          <a:solidFill>
            <a:srgbClr val="DC5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19759" y="1941896"/>
            <a:ext cx="77724" cy="77724"/>
          </a:xfrm>
          <a:prstGeom prst="ellipse">
            <a:avLst/>
          </a:prstGeom>
          <a:solidFill>
            <a:srgbClr val="E0A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6919" y="1941896"/>
            <a:ext cx="77724" cy="77724"/>
          </a:xfrm>
          <a:prstGeom prst="ellipse">
            <a:avLst/>
          </a:prstGeom>
          <a:solidFill>
            <a:srgbClr val="4CB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84935" y="1932752"/>
            <a:ext cx="586323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850" b="0">
                <a:solidFill>
                  <a:srgbClr val="61748C"/>
                </a:solidFill>
                <a:latin typeface="Consolas"/>
              </a:rPr>
              <a:t>solarshare · mumbai rooftop microgrid</a:t>
            </a:r>
          </a:p>
        </p:txBody>
      </p:sp>
      <p:pic>
        <p:nvPicPr>
          <p:cNvPr id="14" name="Picture 13" descr="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27" y="2129348"/>
            <a:ext cx="6503313" cy="375024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8007" y="6016752"/>
            <a:ext cx="659475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61748C"/>
                </a:solidFill>
                <a:latin typeface="Segoe UI"/>
              </a:rPr>
              <a:t>Live order book — peer, area, distance, reliability, lot left · best ask ₹5.65 · Trade panel with the complete route before you sign.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82711" y="1809308"/>
            <a:ext cx="2244322" cy="256032"/>
          </a:xfrm>
          <a:prstGeom prst="roundRect">
            <a:avLst>
              <a:gd name="adj" fmla="val 50000"/>
            </a:avLst>
          </a:prstGeom>
          <a:solidFill>
            <a:srgbClr val="111827">
              <a:alpha val="55000"/>
            </a:srgbClr>
          </a:solidFill>
          <a:ln w="9525">
            <a:solidFill>
              <a:srgbClr val="35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82711" y="1873982"/>
            <a:ext cx="224432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950" b="1">
                <a:solidFill>
                  <a:srgbClr val="35F08A"/>
                </a:solidFill>
                <a:latin typeface="Segoe UI"/>
              </a:rPr>
              <a:t>SAME WALLET, BOTH SIDES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82711" y="2271080"/>
            <a:ext cx="64008" cy="64008"/>
          </a:xfrm>
          <a:prstGeom prst="roundRect">
            <a:avLst>
              <a:gd name="adj" fmla="val 50000"/>
            </a:avLst>
          </a:prstGeom>
          <a:solidFill>
            <a:srgbClr val="35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1" y="2193356"/>
            <a:ext cx="324886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1">
                <a:solidFill>
                  <a:srgbClr val="EDF3FA"/>
                </a:solidFill>
                <a:latin typeface="Segoe UI"/>
              </a:rPr>
              <a:t>₹ first, always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1" y="2427320"/>
            <a:ext cx="3248863" cy="5453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98AABE"/>
                </a:solidFill>
                <a:latin typeface="Segoe UI"/>
              </a:rPr>
              <a:t>Prices, balances and ledger totals are INR. Base ₹8.5/kWh, live band ₹5.5–13.5, IST solar curve for Mumbai, BKC–Andheri Feeder 14.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1" y="3173882"/>
            <a:ext cx="64008" cy="64008"/>
          </a:xfrm>
          <a:prstGeom prst="roundRect">
            <a:avLst>
              <a:gd name="adj" fmla="val 50000"/>
            </a:avLst>
          </a:prstGeom>
          <a:solidFill>
            <a:srgbClr val="35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1" y="3096158"/>
            <a:ext cx="324886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1">
                <a:solidFill>
                  <a:srgbClr val="EDF3FA"/>
                </a:solidFill>
                <a:latin typeface="Segoe UI"/>
              </a:rPr>
              <a:t>Sign up → trade in 30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1" y="3330122"/>
            <a:ext cx="3248863" cy="5453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98AABE"/>
                </a:solidFill>
                <a:latin typeface="Segoe UI"/>
              </a:rPr>
              <a:t>Email + password lands in real SQL tables. New profiles get ₹500 credit and a 3 kWp rooftop that keeps generating through the day.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2711" y="4076684"/>
            <a:ext cx="64008" cy="64008"/>
          </a:xfrm>
          <a:prstGeom prst="roundRect">
            <a:avLst>
              <a:gd name="adj" fmla="val 50000"/>
            </a:avLst>
          </a:prstGeom>
          <a:solidFill>
            <a:srgbClr val="35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1" y="3998960"/>
            <a:ext cx="324886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1">
                <a:solidFill>
                  <a:srgbClr val="EDF3FA"/>
                </a:solidFill>
                <a:latin typeface="Segoe UI"/>
              </a:rPr>
              <a:t>No producer/consumer tag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1" y="4232925"/>
            <a:ext cx="3248863" cy="36969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98AABE"/>
                </a:solidFill>
                <a:latin typeface="Segoe UI"/>
              </a:rPr>
              <a:t>Surplus accumulates from the panel curve and can be sold into the book the same minute you need to buy.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82711" y="4803785"/>
            <a:ext cx="64008" cy="64008"/>
          </a:xfrm>
          <a:prstGeom prst="roundRect">
            <a:avLst>
              <a:gd name="adj" fmla="val 50000"/>
            </a:avLst>
          </a:prstGeom>
          <a:solidFill>
            <a:srgbClr val="35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65591" y="4726061"/>
            <a:ext cx="324886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1">
                <a:solidFill>
                  <a:srgbClr val="EDF3FA"/>
                </a:solidFill>
                <a:latin typeface="Segoe UI"/>
              </a:rPr>
              <a:t>UPI rails for money in and 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1" y="4960025"/>
            <a:ext cx="3248863" cy="36969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98AABE"/>
                </a:solidFill>
                <a:latin typeface="Segoe UI"/>
              </a:rPr>
              <a:t>Top-up and withdraw against stored payment methods; each movement is a ₹ row plus a minted block.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82711" y="5724144"/>
            <a:ext cx="3431743" cy="713232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143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591" y="5852160"/>
            <a:ext cx="306598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1">
                <a:solidFill>
                  <a:srgbClr val="FFB020"/>
                </a:solidFill>
                <a:latin typeface="Segoe UI"/>
              </a:rPr>
              <a:t>THE 60-SECOND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1" y="6099048"/>
            <a:ext cx="3065983" cy="3715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98AABE"/>
                </a:solidFill>
                <a:latin typeface="Segoe UI"/>
              </a:rPr>
              <a:t>sign up → ₹500 → pick a lot → sign → wallet and chain head move together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6400800"/>
            <a:ext cx="10637215" cy="9144"/>
          </a:xfrm>
          <a:prstGeom prst="rect">
            <a:avLst/>
          </a:prstGeom>
          <a:solidFill>
            <a:srgbClr val="20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1">
                <a:solidFill>
                  <a:srgbClr val="35F08A"/>
                </a:solidFill>
                <a:latin typeface="Segoe UI"/>
              </a:rPr>
              <a:t>DATA FORGE</a:t>
            </a:r>
            <a:r>
              <a:rPr sz="900" b="0">
                <a:solidFill>
                  <a:srgbClr val="61748C"/>
                </a:solidFill>
                <a:latin typeface="Segoe UI"/>
              </a:rPr>
              <a:t>   ·   SolarShare — peer-to-peer solar exchange, priced in 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25735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>
                <a:solidFill>
                  <a:srgbClr val="61748C"/>
                </a:solidFill>
                <a:latin typeface="Consolas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85455" y="-3291840"/>
            <a:ext cx="5852160" cy="5852160"/>
          </a:xfrm>
          <a:prstGeom prst="ellipse">
            <a:avLst/>
          </a:prstGeom>
          <a:solidFill>
            <a:srgbClr val="35F08A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651760" y="3566160"/>
            <a:ext cx="5120640" cy="5120640"/>
          </a:xfrm>
          <a:prstGeom prst="ellipse">
            <a:avLst/>
          </a:prstGeom>
          <a:solidFill>
            <a:srgbClr val="FFB02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5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35F08A"/>
                </a:solidFill>
                <a:latin typeface="Segoe UI"/>
              </a:rPr>
              <a:t>HOW TRADING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1792"/>
            <a:ext cx="6766560" cy="9380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1">
                <a:solidFill>
                  <a:srgbClr val="EDF3FA"/>
                </a:solidFill>
                <a:latin typeface="Segoe UI"/>
              </a:rPr>
              <a:t>Three ways to trade — all quoted before you 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32955"/>
            <a:ext cx="6766560" cy="5119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>
                <a:solidFill>
                  <a:srgbClr val="98AABE"/>
                </a:solidFill>
                <a:latin typeface="Segoe UI"/>
              </a:rPr>
              <a:t>src/lib/deal.ts is a pure TypeScript engine: no React, no network, no DB. The same maths drives the preview and the settlement.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758" y="2254610"/>
            <a:ext cx="3618883" cy="3542685"/>
          </a:xfrm>
          <a:prstGeom prst="roundRect">
            <a:avLst>
              <a:gd name="adj" fmla="val 4500"/>
            </a:avLst>
          </a:prstGeom>
          <a:solidFill>
            <a:srgbClr val="0C121B"/>
          </a:solidFill>
          <a:ln w="13970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8350" y="2350622"/>
            <a:ext cx="77724" cy="77724"/>
          </a:xfrm>
          <a:prstGeom prst="ellipse">
            <a:avLst/>
          </a:prstGeom>
          <a:solidFill>
            <a:srgbClr val="DC5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35510" y="2350622"/>
            <a:ext cx="77724" cy="77724"/>
          </a:xfrm>
          <a:prstGeom prst="ellipse">
            <a:avLst/>
          </a:prstGeom>
          <a:solidFill>
            <a:srgbClr val="E0A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72670" y="2350622"/>
            <a:ext cx="77724" cy="77724"/>
          </a:xfrm>
          <a:prstGeom prst="ellipse">
            <a:avLst/>
          </a:prstGeom>
          <a:solidFill>
            <a:srgbClr val="4CB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0686" y="2341478"/>
            <a:ext cx="288736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850" b="0">
                <a:solidFill>
                  <a:srgbClr val="61748C"/>
                </a:solidFill>
                <a:latin typeface="Consolas"/>
              </a:rPr>
              <a:t>solarshare · mumbai rooftop microgrid</a:t>
            </a:r>
          </a:p>
        </p:txBody>
      </p:sp>
      <p:pic>
        <p:nvPicPr>
          <p:cNvPr id="14" name="Picture 13" descr="de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78" y="2538074"/>
            <a:ext cx="3527443" cy="321350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3758" y="5907024"/>
            <a:ext cx="3618883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61748C"/>
                </a:solidFill>
                <a:latin typeface="Segoe UI"/>
              </a:rPr>
              <a:t>Direct P2P deal sheet: a slice of one neighbour's lot, offer band, instalments, margin vs mid, blocks to mint.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2254610"/>
            <a:ext cx="6339535" cy="921898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93207" y="2364338"/>
            <a:ext cx="41148" cy="702442"/>
          </a:xfrm>
          <a:prstGeom prst="rect">
            <a:avLst/>
          </a:prstGeom>
          <a:solidFill>
            <a:srgbClr val="35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664" y="239177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1">
                <a:solidFill>
                  <a:srgbClr val="35F08A"/>
                </a:solidFill>
                <a:latin typeface="Segoe UI"/>
              </a:rPr>
              <a:t>MARKET SWEEP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400914"/>
            <a:ext cx="3175711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61748C"/>
                </a:solidFill>
                <a:latin typeface="Consolas"/>
              </a:rPr>
              <a:t>routeFill()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2666090"/>
            <a:ext cx="5864047" cy="3824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>
                <a:solidFill>
                  <a:srgbClr val="98AABE"/>
                </a:solidFill>
                <a:latin typeface="Segoe UI"/>
              </a:rPr>
              <a:t>Walk the cheapest asks (or richest bids) until you are filled — across as many neighbours as it takes. One order can produce several legs, and one leg can take part of a lot.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3322812"/>
            <a:ext cx="6339535" cy="921898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93207" y="3432540"/>
            <a:ext cx="41148" cy="702442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12664" y="34599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1">
                <a:solidFill>
                  <a:srgbClr val="FFB020"/>
                </a:solidFill>
                <a:latin typeface="Segoe UI"/>
              </a:rPr>
              <a:t>LIMIT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469116"/>
            <a:ext cx="3175711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61748C"/>
                </a:solidFill>
                <a:latin typeface="Consolas"/>
              </a:rPr>
              <a:t>rests on the 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734292"/>
            <a:ext cx="5864047" cy="3824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>
                <a:solidFill>
                  <a:srgbClr val="98AABE"/>
                </a:solidFill>
                <a:latin typeface="Segoe UI"/>
              </a:rPr>
              <a:t>Set your own price with an explicit margin versus the mid. The unfilled remainder stays on the order book as your order; a match settles it atomically.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4391014"/>
            <a:ext cx="6339535" cy="921898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93207" y="4500742"/>
            <a:ext cx="41148" cy="702442"/>
          </a:xfrm>
          <a:prstGeom prst="rect">
            <a:avLst/>
          </a:prstGeom>
          <a:solidFill>
            <a:srgbClr val="5F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12664" y="452817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1">
                <a:solidFill>
                  <a:srgbClr val="5FA8FF"/>
                </a:solidFill>
                <a:latin typeface="Segoe UI"/>
              </a:rPr>
              <a:t>DIRECT P2P DEAL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537318"/>
            <a:ext cx="3175711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61748C"/>
                </a:solidFill>
                <a:latin typeface="Consolas"/>
              </a:rPr>
              <a:t>directDeal() · splitInstalments()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12664" y="4802494"/>
            <a:ext cx="5864047" cy="3824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>
                <a:solidFill>
                  <a:srgbClr val="98AABE"/>
                </a:solidFill>
                <a:latin typeface="Segoe UI"/>
              </a:rPr>
              <a:t>One named neighbour, any slice from their minimum up to the whole lot, an offer inside a ±2.5% band (accepted or countered), and delivery split into instalments — each one its own block.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4920" y="5477504"/>
            <a:ext cx="6339535" cy="841248"/>
          </a:xfrm>
          <a:prstGeom prst="roundRect">
            <a:avLst>
              <a:gd name="adj" fmla="val 7000"/>
            </a:avLst>
          </a:prstGeom>
          <a:solidFill>
            <a:srgbClr val="0C121B"/>
          </a:solidFill>
          <a:ln w="1143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12664" y="557808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1">
                <a:solidFill>
                  <a:srgbClr val="FFB020"/>
                </a:solidFill>
                <a:latin typeface="Segoe UI"/>
              </a:rPr>
              <a:t>EVERY QUOTE SHOWS BEFORE YOU SIGN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12664" y="5843264"/>
            <a:ext cx="1123569" cy="237744"/>
          </a:xfrm>
          <a:prstGeom prst="roundRect">
            <a:avLst>
              <a:gd name="adj" fmla="val 50000"/>
            </a:avLst>
          </a:prstGeom>
          <a:solidFill>
            <a:srgbClr val="111827">
              <a:alpha val="55000"/>
            </a:srgbClr>
          </a:solidFill>
          <a:ln w="9525">
            <a:solidFill>
              <a:srgbClr val="35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2664" y="5902129"/>
            <a:ext cx="112356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900" b="1">
                <a:solidFill>
                  <a:srgbClr val="35F08A"/>
                </a:solidFill>
                <a:latin typeface="Segoe UI"/>
              </a:rPr>
              <a:t>average price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27673" y="5843264"/>
            <a:ext cx="590169" cy="237744"/>
          </a:xfrm>
          <a:prstGeom prst="roundRect">
            <a:avLst>
              <a:gd name="adj" fmla="val 50000"/>
            </a:avLst>
          </a:prstGeom>
          <a:solidFill>
            <a:srgbClr val="111827">
              <a:alpha val="55000"/>
            </a:srgbClr>
          </a:solidFill>
          <a:ln w="9525">
            <a:solidFill>
              <a:srgbClr val="35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27673" y="5902129"/>
            <a:ext cx="59016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900" b="1">
                <a:solidFill>
                  <a:srgbClr val="35F08A"/>
                </a:solidFill>
                <a:latin typeface="Segoe UI"/>
              </a:rPr>
              <a:t>gross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09282" y="5843264"/>
            <a:ext cx="971169" cy="237744"/>
          </a:xfrm>
          <a:prstGeom prst="roundRect">
            <a:avLst>
              <a:gd name="adj" fmla="val 50000"/>
            </a:avLst>
          </a:prstGeom>
          <a:solidFill>
            <a:srgbClr val="111827">
              <a:alpha val="55000"/>
            </a:srgbClr>
          </a:solidFill>
          <a:ln w="9525">
            <a:solidFill>
              <a:srgbClr val="35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9282" y="5902129"/>
            <a:ext cx="97116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900" b="1">
                <a:solidFill>
                  <a:srgbClr val="35F08A"/>
                </a:solidFill>
                <a:latin typeface="Segoe UI"/>
              </a:rPr>
              <a:t>grid fee 1%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1891" y="5843264"/>
            <a:ext cx="752094" cy="237744"/>
          </a:xfrm>
          <a:prstGeom prst="roundRect">
            <a:avLst>
              <a:gd name="adj" fmla="val 50000"/>
            </a:avLst>
          </a:prstGeom>
          <a:solidFill>
            <a:srgbClr val="111827">
              <a:alpha val="55000"/>
            </a:srgbClr>
          </a:solidFill>
          <a:ln w="9525">
            <a:solidFill>
              <a:srgbClr val="35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1891" y="5902129"/>
            <a:ext cx="75209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900" b="1">
                <a:solidFill>
                  <a:srgbClr val="35F08A"/>
                </a:solidFill>
                <a:latin typeface="Segoe UI"/>
              </a:rPr>
              <a:t>you pay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15425" y="5843264"/>
            <a:ext cx="1295019" cy="237744"/>
          </a:xfrm>
          <a:prstGeom prst="roundRect">
            <a:avLst>
              <a:gd name="adj" fmla="val 50000"/>
            </a:avLst>
          </a:prstGeom>
          <a:solidFill>
            <a:srgbClr val="111827">
              <a:alpha val="55000"/>
            </a:srgbClr>
          </a:solidFill>
          <a:ln w="9525">
            <a:solidFill>
              <a:srgbClr val="35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15425" y="5902129"/>
            <a:ext cx="129501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900" b="1">
                <a:solidFill>
                  <a:srgbClr val="35F08A"/>
                </a:solidFill>
                <a:latin typeface="Segoe UI"/>
              </a:rPr>
              <a:t>slippage vs best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12664" y="6172448"/>
            <a:ext cx="1171194" cy="237744"/>
          </a:xfrm>
          <a:prstGeom prst="roundRect">
            <a:avLst>
              <a:gd name="adj" fmla="val 50000"/>
            </a:avLst>
          </a:prstGeom>
          <a:solidFill>
            <a:srgbClr val="111827">
              <a:alpha val="55000"/>
            </a:srgbClr>
          </a:solidFill>
          <a:ln w="9525">
            <a:solidFill>
              <a:srgbClr val="35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12664" y="6231313"/>
            <a:ext cx="117119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900" b="1">
                <a:solidFill>
                  <a:srgbClr val="35F08A"/>
                </a:solidFill>
                <a:latin typeface="Segoe UI"/>
              </a:rPr>
              <a:t>margin vs mid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75298" y="6172448"/>
            <a:ext cx="1152144" cy="237744"/>
          </a:xfrm>
          <a:prstGeom prst="roundRect">
            <a:avLst>
              <a:gd name="adj" fmla="val 50000"/>
            </a:avLst>
          </a:prstGeom>
          <a:solidFill>
            <a:srgbClr val="111827">
              <a:alpha val="55000"/>
            </a:srgbClr>
          </a:solidFill>
          <a:ln w="9525">
            <a:solidFill>
              <a:srgbClr val="35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75298" y="6231313"/>
            <a:ext cx="11521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900" b="1">
                <a:solidFill>
                  <a:srgbClr val="35F08A"/>
                </a:solidFill>
                <a:latin typeface="Segoe UI"/>
              </a:rPr>
              <a:t>blocks minted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6400800"/>
            <a:ext cx="10637215" cy="9144"/>
          </a:xfrm>
          <a:prstGeom prst="rect">
            <a:avLst/>
          </a:prstGeom>
          <a:solidFill>
            <a:srgbClr val="20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1">
                <a:solidFill>
                  <a:srgbClr val="35F08A"/>
                </a:solidFill>
                <a:latin typeface="Segoe UI"/>
              </a:rPr>
              <a:t>DATA FORGE</a:t>
            </a:r>
            <a:r>
              <a:rPr sz="900" b="0">
                <a:solidFill>
                  <a:srgbClr val="61748C"/>
                </a:solidFill>
                <a:latin typeface="Segoe UI"/>
              </a:rPr>
              <a:t>   ·   SolarShare — peer-to-peer solar exchange, priced in 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25735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>
                <a:solidFill>
                  <a:srgbClr val="61748C"/>
                </a:solidFill>
                <a:latin typeface="Consolas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85455" y="-3291840"/>
            <a:ext cx="5852160" cy="5852160"/>
          </a:xfrm>
          <a:prstGeom prst="ellipse">
            <a:avLst/>
          </a:prstGeom>
          <a:solidFill>
            <a:srgbClr val="35F08A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651760" y="3566160"/>
            <a:ext cx="5120640" cy="5120640"/>
          </a:xfrm>
          <a:prstGeom prst="ellipse">
            <a:avLst/>
          </a:prstGeom>
          <a:solidFill>
            <a:srgbClr val="FFB02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5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35F08A"/>
                </a:solidFill>
                <a:latin typeface="Segoe UI"/>
              </a:rPr>
              <a:t>THE TRUST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1792"/>
            <a:ext cx="6949440" cy="9380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1">
                <a:solidFill>
                  <a:srgbClr val="EDF3FA"/>
                </a:solidFill>
                <a:latin typeface="Segoe UI"/>
              </a:rPr>
              <a:t>Every trade mints a block — and you can re-hash the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32955"/>
            <a:ext cx="6949440" cy="5119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>
                <a:solidFill>
                  <a:srgbClr val="98AABE"/>
                </a:solidFill>
                <a:latin typeface="Segoe UI"/>
              </a:rPr>
              <a:t>Not a whitepaper promise: a SHA-256 hash chain stored in the same Postgres as your balance.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3197" y="2254610"/>
            <a:ext cx="2858212" cy="3560973"/>
          </a:xfrm>
          <a:prstGeom prst="roundRect">
            <a:avLst>
              <a:gd name="adj" fmla="val 4500"/>
            </a:avLst>
          </a:prstGeom>
          <a:solidFill>
            <a:srgbClr val="0C121B"/>
          </a:solidFill>
          <a:ln w="13970">
            <a:solidFill>
              <a:srgbClr val="263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ledg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917" y="2300330"/>
            <a:ext cx="2766772" cy="34695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3197" y="5943600"/>
            <a:ext cx="2858212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61748C"/>
                </a:solidFill>
                <a:latin typeface="Segoe UI"/>
              </a:rPr>
              <a:t>Energy ledger dialog: chain head, verification banner, recent blocks.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2254610"/>
            <a:ext cx="6943039" cy="766404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065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3" y="2364338"/>
            <a:ext cx="41148" cy="546948"/>
          </a:xfrm>
          <a:prstGeom prst="rect">
            <a:avLst/>
          </a:prstGeom>
          <a:solidFill>
            <a:srgbClr val="35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373482"/>
            <a:ext cx="2139696" cy="5652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EDF3FA"/>
                </a:solidFill>
                <a:latin typeface="Segoe UI"/>
              </a:rPr>
              <a:t>What a block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79" y="2373482"/>
            <a:ext cx="4547311" cy="5469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98AABE"/>
                </a:solidFill>
                <a:latin typeface="Segoe UI"/>
              </a:rPr>
              <a:t>Block n carries the SHA-256 of its canonical payload — block number, previous hash, timestamp, transactions — and links to block n−1. Genesis is deterministic.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71416" y="3149031"/>
            <a:ext cx="6943039" cy="59628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065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9703" y="3258759"/>
            <a:ext cx="41148" cy="37682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3267903"/>
            <a:ext cx="2139696" cy="395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EDF3FA"/>
                </a:solidFill>
                <a:latin typeface="Segoe UI"/>
              </a:rPr>
              <a:t>What mints 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79" y="3267903"/>
            <a:ext cx="4547311" cy="376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98AABE"/>
                </a:solidFill>
                <a:latin typeface="Segoe UI"/>
              </a:rPr>
              <a:t>Top-up, buy, sell, order listing, withdrawal. A 3-instalment deal is 3 blocks, so 'first some kWh, then the next some' is three auditable records, not 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71416" y="3873327"/>
            <a:ext cx="6943039" cy="766404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065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9703" y="3983055"/>
            <a:ext cx="41148" cy="546948"/>
          </a:xfrm>
          <a:prstGeom prst="rect">
            <a:avLst/>
          </a:prstGeom>
          <a:solidFill>
            <a:srgbClr val="5F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3992199"/>
            <a:ext cx="2139696" cy="5652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EDF3FA"/>
                </a:solidFill>
                <a:latin typeface="Segoe UI"/>
              </a:rPr>
              <a:t>verifyChain()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79" y="3992199"/>
            <a:ext cx="4547311" cy="5469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98AABE"/>
                </a:solidFill>
                <a:latin typeface="Segoe UI"/>
              </a:rPr>
              <a:t>Recomputes every hash from raw DB rows and reports the first bad block: edited transaction → hash mismatch, deleted block → broken link, changed prev hash → broken link.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71416" y="4767747"/>
            <a:ext cx="6943039" cy="766404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065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9703" y="4877475"/>
            <a:ext cx="41148" cy="546948"/>
          </a:xfrm>
          <a:prstGeom prst="rect">
            <a:avLst/>
          </a:prstGeom>
          <a:solidFill>
            <a:srgbClr val="35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4886619"/>
            <a:ext cx="2139696" cy="5652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EDF3FA"/>
                </a:solidFill>
                <a:latin typeface="Segoe UI"/>
              </a:rPr>
              <a:t>Live, no reloads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79" y="4886619"/>
            <a:ext cx="4547311" cy="5469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98AABE"/>
                </a:solidFill>
                <a:latin typeface="Segoe UI"/>
              </a:rPr>
              <a:t>ledger-feed.ts folds each poll into the list: unchanged blocks keep object identity so rows never re-render, new blocks queue and land one at a time, inserts above you are scroll-anchored, polling pauses while the tab hides.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71416" y="5662168"/>
            <a:ext cx="6943039" cy="766404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065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9703" y="5771896"/>
            <a:ext cx="41148" cy="5469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5781040"/>
            <a:ext cx="2139696" cy="5652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EDF3FA"/>
                </a:solidFill>
                <a:latin typeface="Segoe UI"/>
              </a:rPr>
              <a:t>A real chain, read 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79" y="5781040"/>
            <a:ext cx="4547311" cy="5469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98AABE"/>
                </a:solidFill>
                <a:latin typeface="Segoe UI"/>
              </a:rPr>
              <a:t>JSON-RPC to public Polygon Amoy endpoints, chainId verified before a reading is accepted, last healthy endpoint kept sticky, and an honest reason shown when the sandbox has no egress.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6400800"/>
            <a:ext cx="10637215" cy="9144"/>
          </a:xfrm>
          <a:prstGeom prst="rect">
            <a:avLst/>
          </a:prstGeom>
          <a:solidFill>
            <a:srgbClr val="20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1">
                <a:solidFill>
                  <a:srgbClr val="35F08A"/>
                </a:solidFill>
                <a:latin typeface="Segoe UI"/>
              </a:rPr>
              <a:t>DATA FORGE</a:t>
            </a:r>
            <a:r>
              <a:rPr sz="900" b="0">
                <a:solidFill>
                  <a:srgbClr val="61748C"/>
                </a:solidFill>
                <a:latin typeface="Segoe UI"/>
              </a:rPr>
              <a:t>   ·   SolarShare — peer-to-peer solar exchange, priced in 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25735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>
                <a:solidFill>
                  <a:srgbClr val="61748C"/>
                </a:solidFill>
                <a:latin typeface="Consolas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85455" y="-3291840"/>
            <a:ext cx="5852160" cy="5852160"/>
          </a:xfrm>
          <a:prstGeom prst="ellipse">
            <a:avLst/>
          </a:prstGeom>
          <a:solidFill>
            <a:srgbClr val="35F08A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651760" y="3566160"/>
            <a:ext cx="5120640" cy="5120640"/>
          </a:xfrm>
          <a:prstGeom prst="ellipse">
            <a:avLst/>
          </a:prstGeom>
          <a:solidFill>
            <a:srgbClr val="FFB02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5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35F08A"/>
                </a:solidFill>
                <a:latin typeface="Segoe UI"/>
              </a:rPr>
              <a:t>WHAT'S REAL · 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1792"/>
            <a:ext cx="6766560" cy="9380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1">
                <a:solidFill>
                  <a:srgbClr val="EDF3FA"/>
                </a:solidFill>
                <a:latin typeface="Segoe UI"/>
              </a:rPr>
              <a:t>Shipped today — and defensible in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32955"/>
            <a:ext cx="6766560" cy="5119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>
                <a:solidFill>
                  <a:srgbClr val="98AABE"/>
                </a:solidFill>
                <a:latin typeface="Segoe UI"/>
              </a:rPr>
              <a:t>We would rather hand you the exact boundary of what is simulated than be caught inflating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3632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>
                <a:solidFill>
                  <a:srgbClr val="FFB020"/>
                </a:solidFill>
                <a:latin typeface="Segoe UI"/>
              </a:rPr>
              <a:t>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7015" y="223632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>
                <a:solidFill>
                  <a:srgbClr val="FFB020"/>
                </a:solidFill>
                <a:latin typeface="Segoe UI"/>
              </a:rPr>
              <a:t>PROOF ON THE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74066"/>
            <a:ext cx="5117439" cy="355751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143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570598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35F08A"/>
                </a:solidFill>
                <a:latin typeface="Segoe U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3976" y="2510637"/>
            <a:ext cx="3672687" cy="3008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98AABE"/>
                </a:solidFill>
                <a:latin typeface="Segoe UI"/>
              </a:rPr>
              <a:t>React 19 · TanStack Start + Router with SSR · Tailwind 4 · Recharts · Radix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902970"/>
            <a:ext cx="5117439" cy="355751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143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2999502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35F08A"/>
                </a:solidFill>
                <a:latin typeface="Segoe UI"/>
              </a:rPr>
              <a:t>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3976" y="2939540"/>
            <a:ext cx="3672687" cy="3008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98AABE"/>
                </a:solidFill>
                <a:latin typeface="Segoe UI"/>
              </a:rPr>
              <a:t>createServerFn + bearer-token middleware → SQL in the same request path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31873"/>
            <a:ext cx="5117439" cy="355751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143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428406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35F08A"/>
                </a:solidFill>
                <a:latin typeface="Segoe UI"/>
              </a:rPr>
              <a:t>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3368444"/>
            <a:ext cx="3672687" cy="3008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98AABE"/>
                </a:solidFill>
                <a:latin typeface="Segoe UI"/>
              </a:rPr>
              <a:t>better-auth email+password → user/session/account, bcrypt-scrypt, httpOnly cookies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60777"/>
            <a:ext cx="5117439" cy="355751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143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3857309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35F08A"/>
                </a:solidFill>
                <a:latin typeface="Segoe UI"/>
              </a:rP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93976" y="3797347"/>
            <a:ext cx="3672687" cy="3008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98AABE"/>
                </a:solidFill>
                <a:latin typeface="Segoe UI"/>
              </a:rPr>
              <a:t>PGLite (embedded PostgreSQL 16) or Neon via DATABASE_URL · migrations 0001–0003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189680"/>
            <a:ext cx="5117439" cy="355751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143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4286213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35F08A"/>
                </a:solidFill>
                <a:latin typeface="Segoe UI"/>
              </a:rPr>
              <a:t>Ledger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93976" y="4226251"/>
            <a:ext cx="3672687" cy="3008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98AABE"/>
                </a:solidFill>
                <a:latin typeface="Segoe UI"/>
              </a:rPr>
              <a:t>ledger-core.ts (pure hashing) · ledger.server.ts (mint/verify) · ledger-feed.ts (live UI)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618584"/>
            <a:ext cx="5117439" cy="355751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143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" y="4715116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35F08A"/>
                </a:solidFill>
                <a:latin typeface="Segoe UI"/>
              </a:rPr>
              <a:t>Chain read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93976" y="4655154"/>
            <a:ext cx="3672687" cy="3008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98AABE"/>
                </a:solidFill>
                <a:latin typeface="Segoe UI"/>
              </a:rPr>
              <a:t>testnet.server.ts → Polygon Amoy, read-only, chainId-guarded, graceful offline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7015" y="2474066"/>
            <a:ext cx="5117439" cy="355751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143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3319" y="2551231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1">
                <a:solidFill>
                  <a:srgbClr val="EDF3FA"/>
                </a:solidFill>
                <a:latin typeface="Segoe UI"/>
              </a:rPr>
              <a:t>105 / 105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2583" y="2510637"/>
            <a:ext cx="3855567" cy="3008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98AABE"/>
                </a:solidFill>
                <a:latin typeface="Segoe UI"/>
              </a:rPr>
              <a:t>app tests pass — ledger core, live feed, trading engine, network bridge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97015" y="2902970"/>
            <a:ext cx="5117439" cy="355751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143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3319" y="2980135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1">
                <a:solidFill>
                  <a:srgbClr val="EDF3FA"/>
                </a:solidFill>
                <a:latin typeface="Segoe UI"/>
              </a:rPr>
              <a:t>6 + 14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2583" y="2939540"/>
            <a:ext cx="3855567" cy="3008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98AABE"/>
                </a:solidFill>
                <a:latin typeface="Segoe UI"/>
              </a:rPr>
              <a:t>tests on the chain (deterministic hashing, genesis, tamper) and on the live ledger list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7015" y="3331873"/>
            <a:ext cx="5117439" cy="355751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143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3319" y="3409038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1">
                <a:solidFill>
                  <a:srgbClr val="EDF3FA"/>
                </a:solidFill>
                <a:latin typeface="Segoe UI"/>
              </a:rPr>
              <a:t>1 E2E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12583" y="3368444"/>
            <a:ext cx="3855567" cy="3008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98AABE"/>
                </a:solidFill>
                <a:latin typeface="Segoe UI"/>
              </a:rPr>
              <a:t>HTTP smoke mirroring the browser: sign-up → ₹500 → top-up → buy → list → verify → withdraw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97015" y="3760777"/>
            <a:ext cx="5117439" cy="355751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1430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3319" y="3837942"/>
            <a:ext cx="896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1">
                <a:solidFill>
                  <a:srgbClr val="EDF3FA"/>
                </a:solidFill>
                <a:latin typeface="Segoe UI"/>
              </a:rPr>
              <a:t>SSR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12583" y="3797347"/>
            <a:ext cx="3855567" cy="3008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98AABE"/>
                </a:solidFill>
                <a:latin typeface="Segoe UI"/>
              </a:rPr>
              <a:t>dashboard renders server-side — ₹ balances, market, wallet, all in the HTML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97015" y="4226256"/>
            <a:ext cx="5117439" cy="748079"/>
          </a:xfrm>
          <a:prstGeom prst="roundRect">
            <a:avLst>
              <a:gd name="adj" fmla="val 7000"/>
            </a:avLst>
          </a:prstGeom>
          <a:solidFill>
            <a:srgbClr val="0C121B"/>
          </a:solidFill>
          <a:ln w="12700">
            <a:solidFill>
              <a:srgbClr val="403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15303" y="4326840"/>
            <a:ext cx="41148" cy="546911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8183" y="4326840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FFB020"/>
                </a:solidFill>
                <a:latin typeface="Segoe UI"/>
              </a:rPr>
              <a:t>HONEST
LIMITS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8343" y="4312727"/>
            <a:ext cx="3471519" cy="5934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00" b="0">
                <a:solidFill>
                  <a:srgbClr val="98AABE"/>
                </a:solidFill>
                <a:latin typeface="Segoe UI"/>
              </a:rPr>
              <a:t>PGLite is in-memory per process (swap in Postgres for durability)  ·  neighbour lots and ambient activity are simulated client-side  ·  the chain is PoA-shaped, not a consensus network  ·  live Amoy reads depend on egress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13892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>
                <a:solidFill>
                  <a:srgbClr val="35F08A"/>
                </a:solidFill>
                <a:latin typeface="Segoe UI"/>
              </a:rPr>
              <a:t>NEXT, IN ORDER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3575" y="5134356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61748C"/>
                </a:solidFill>
                <a:latin typeface="Segoe UI"/>
              </a:rPr>
              <a:t>Thank you — DATA FORGE   ·   Jeet Patel · Shlok Vaghasiya · Dhruvit Vadukiya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5394960"/>
            <a:ext cx="2577007" cy="64008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065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" y="5486400"/>
            <a:ext cx="224782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1">
                <a:solidFill>
                  <a:srgbClr val="35F08A"/>
                </a:solidFill>
                <a:latin typeface="Segoe UI"/>
              </a:rPr>
              <a:t>1 · Persist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" y="5701284"/>
            <a:ext cx="2247823" cy="3008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98AABE"/>
                </a:solidFill>
                <a:latin typeface="Segoe UI"/>
              </a:rPr>
              <a:t>managed Postgres + real UPI payout and settlement records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63975" y="5394960"/>
            <a:ext cx="2577007" cy="64008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065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28567" y="5486400"/>
            <a:ext cx="224782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1">
                <a:solidFill>
                  <a:srgbClr val="35F08A"/>
                </a:solidFill>
                <a:latin typeface="Segoe UI"/>
              </a:rPr>
              <a:t>2 · Share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28567" y="5701284"/>
            <a:ext cx="2247823" cy="3008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98AABE"/>
                </a:solidFill>
                <a:latin typeface="Segoe UI"/>
              </a:rPr>
              <a:t>server-side order book so neighbours are real members, with disputes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50711" y="5394960"/>
            <a:ext cx="2577007" cy="64008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065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15303" y="5486400"/>
            <a:ext cx="224782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1">
                <a:solidFill>
                  <a:srgbClr val="35F08A"/>
                </a:solidFill>
                <a:latin typeface="Segoe UI"/>
              </a:rPr>
              <a:t>3 · Anchor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15303" y="5701284"/>
            <a:ext cx="2247823" cy="3008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98AABE"/>
                </a:solidFill>
                <a:latin typeface="Segoe UI"/>
              </a:rPr>
              <a:t>deploy EnergyPool on Amoy; anchor each block head hash on-chain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37447" y="5394960"/>
            <a:ext cx="2577007" cy="64008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065">
            <a:solidFill>
              <a:srgbClr val="202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02039" y="5486400"/>
            <a:ext cx="224782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1">
                <a:solidFill>
                  <a:srgbClr val="35F08A"/>
                </a:solidFill>
                <a:latin typeface="Segoe UI"/>
              </a:rPr>
              <a:t>4 · Comply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2039" y="5701284"/>
            <a:ext cx="2247823" cy="3008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98AABE"/>
                </a:solidFill>
                <a:latin typeface="Segoe UI"/>
              </a:rPr>
              <a:t>feeder-level P2P within net-metering rules · WhatsApp / UPI-lite reach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" y="6400800"/>
            <a:ext cx="10637215" cy="9144"/>
          </a:xfrm>
          <a:prstGeom prst="rect">
            <a:avLst/>
          </a:prstGeom>
          <a:solidFill>
            <a:srgbClr val="20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1">
                <a:solidFill>
                  <a:srgbClr val="35F08A"/>
                </a:solidFill>
                <a:latin typeface="Segoe UI"/>
              </a:rPr>
              <a:t>DATA FORGE</a:t>
            </a:r>
            <a:r>
              <a:rPr sz="900" b="0">
                <a:solidFill>
                  <a:srgbClr val="61748C"/>
                </a:solidFill>
                <a:latin typeface="Segoe UI"/>
              </a:rPr>
              <a:t>   ·   SolarShare — peer-to-peer solar exchange, priced in 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25735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>
                <a:solidFill>
                  <a:srgbClr val="61748C"/>
                </a:solidFill>
                <a:latin typeface="Consolas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